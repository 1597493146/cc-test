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基于AI视觉识别的钢箱梁内部巡检技术及装备研发（二期）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招商局交通科技（重庆）有限公司</a:t>
            </a:r>
          </a:p>
          <a:p>
            <a:pPr algn="ctr">
              <a:defRPr sz="2000"/>
            </a:pPr>
            <a:r>
              <a:t>桥梁与结构工程研究院  |  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116430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一、项目背景与必要性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全国公路桥梁110万座，30年以上桥龄占比超20%，大量进入养护高峰期</a:t>
            </a:r>
          </a:p>
          <a:p>
            <a:pPr>
              <a:spcAft>
                <a:spcPts val="800"/>
              </a:spcAft>
              <a:defRPr sz="1800"/>
            </a:pPr>
            <a:r>
              <a:t>• 钢箱梁内部隐患：疲劳裂纹、锈蚀、涂层劣化——隐蔽性强、危害大</a:t>
            </a:r>
          </a:p>
          <a:p>
            <a:pPr>
              <a:spcAft>
                <a:spcPts val="800"/>
              </a:spcAft>
              <a:defRPr sz="1800"/>
            </a:pPr>
            <a:r>
              <a:t>• 人工巡检困境：高风险（缺氧、中暑）、低效率（4-8小时/桥）、高漏检率</a:t>
            </a:r>
          </a:p>
          <a:p>
            <a:pPr>
              <a:spcAft>
                <a:spcPts val="800"/>
              </a:spcAft>
              <a:defRPr sz="1800"/>
            </a:pPr>
            <a:r>
              <a:t>• 交通运输部等七部门将桥梁巡检机器人列为首批推广装备</a:t>
            </a:r>
          </a:p>
          <a:p>
            <a:pPr>
              <a:spcAft>
                <a:spcPts val="800"/>
              </a:spcAft>
              <a:defRPr sz="1800"/>
            </a:pPr>
            <a:r>
              <a:t>• 《公路钢结构桥梁养护技术规范》(JTG/T 5123—2025) 首次要求精细化检测</a:t>
            </a:r>
          </a:p>
          <a:p>
            <a:pPr>
              <a:spcAft>
                <a:spcPts val="800"/>
              </a:spcAft>
              <a:defRPr sz="1800"/>
            </a:pPr>
            <a:r>
              <a:t>• 国内300余座大跨径钢箱梁桥进入规模化运维，年度市场规模9-15亿元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116430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二、竞品分析与差异化优势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履带式方案：检测范围受限、续航差</a:t>
            </a:r>
          </a:p>
          <a:p>
            <a:pPr>
              <a:spcAft>
                <a:spcPts val="800"/>
              </a:spcAft>
              <a:defRPr sz="1600"/>
            </a:pPr>
            <a:r>
              <a:t>• 无人机方案：金属屏蔽信号、续航小于20分钟、稳定性差</a:t>
            </a:r>
          </a:p>
          <a:p>
            <a:pPr>
              <a:spcAft>
                <a:spcPts val="800"/>
              </a:spcAft>
              <a:defRPr sz="1600"/>
            </a:pPr>
            <a:r>
              <a:t>• 爬壁机器人：越障速度慢、效率低、吸附不可靠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• 本项目差异化优势：</a:t>
            </a:r>
          </a:p>
          <a:p>
            <a:pPr>
              <a:spcAft>
                <a:spcPts val="800"/>
              </a:spcAft>
              <a:defRPr sz="1600"/>
            </a:pPr>
            <a:r>
              <a:t>•   双轨底盘+多级伸缩臂+智能视觉+滑触线供电复合方案</a:t>
            </a:r>
          </a:p>
          <a:p>
            <a:pPr>
              <a:spcAft>
                <a:spcPts val="800"/>
              </a:spcAft>
              <a:defRPr sz="1600"/>
            </a:pPr>
            <a:r>
              <a:t>•   彻底解决续航与通信瓶颈，实现持续不间断作业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116430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三、一期成果与二期工程化短板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一期完成情况（2023.8-2025.12）：</a:t>
            </a:r>
          </a:p>
          <a:p>
            <a:pPr>
              <a:spcAft>
                <a:spcPts val="800"/>
              </a:spcAft>
              <a:defRPr sz="1600"/>
            </a:pPr>
            <a:r>
              <a:t>•   伸缩臂范围 5-8m | 定位精度小于等于2cm | 病害检出率大于等于90%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• 四大工程化短板：</a:t>
            </a:r>
          </a:p>
          <a:p>
            <a:pPr>
              <a:spcAft>
                <a:spcPts val="800"/>
              </a:spcAft>
              <a:defRPr sz="1600"/>
            </a:pPr>
            <a:r>
              <a:t>•   1. 伸缩臂刚度不足，长悬臂振动偏移</a:t>
            </a:r>
          </a:p>
          <a:p>
            <a:pPr>
              <a:spcAft>
                <a:spcPts val="800"/>
              </a:spcAft>
              <a:defRPr sz="1600"/>
            </a:pPr>
            <a:r>
              <a:t>•   2. 模块化设计不完善，难以快速适配不同桥型</a:t>
            </a:r>
          </a:p>
          <a:p>
            <a:pPr>
              <a:spcAft>
                <a:spcPts val="800"/>
              </a:spcAft>
              <a:defRPr sz="1600"/>
            </a:pPr>
            <a:r>
              <a:t>•   3. 运行效率待提升</a:t>
            </a:r>
          </a:p>
          <a:p>
            <a:pPr>
              <a:spcAft>
                <a:spcPts val="800"/>
              </a:spcAft>
              <a:defRPr sz="1600"/>
            </a:pPr>
            <a:r>
              <a:t>•   4. 算法精度与端云协同需优化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116430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四、项目目标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二期核心指标（2026.6-2027.12，18个月）：</a:t>
            </a:r>
          </a:p>
          <a:p>
            <a:pPr>
              <a:spcAft>
                <a:spcPts val="800"/>
              </a:spcAft>
              <a:defRPr sz="1600"/>
            </a:pPr>
            <a:r>
              <a:t>•   伸缩臂范围：5-8m → 3-10m</a:t>
            </a:r>
          </a:p>
          <a:p>
            <a:pPr>
              <a:spcAft>
                <a:spcPts val="800"/>
              </a:spcAft>
              <a:defRPr sz="1600"/>
            </a:pPr>
            <a:r>
              <a:t>•   定位精度：小于等于2cm → 小于等于1cm</a:t>
            </a:r>
          </a:p>
          <a:p>
            <a:pPr>
              <a:spcAft>
                <a:spcPts val="800"/>
              </a:spcAft>
              <a:defRPr sz="1600"/>
            </a:pPr>
            <a:r>
              <a:t>•   控制精度：小于等于5mm</a:t>
            </a:r>
          </a:p>
          <a:p>
            <a:pPr>
              <a:spcAft>
                <a:spcPts val="800"/>
              </a:spcAft>
              <a:defRPr sz="1600"/>
            </a:pPr>
            <a:r>
              <a:t>•   病害检出率：大于等于90% → 大于等于95%</a:t>
            </a:r>
          </a:p>
          <a:p>
            <a:pPr>
              <a:spcAft>
                <a:spcPts val="800"/>
              </a:spcAft>
              <a:defRPr sz="1600"/>
            </a:pPr>
            <a:r>
              <a:t>•   巡检效率提升30%以上</a:t>
            </a:r>
          </a:p>
          <a:p>
            <a:pPr>
              <a:spcAft>
                <a:spcPts val="800"/>
              </a:spcAft>
              <a:defRPr sz="1600"/>
            </a:pPr>
            <a:r>
              <a:t>•   模块化组装时间小于等于8小时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• 经济目标：示范工程大于等于2项 | 新签合同大于等于600万 | 3年产值1500万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116430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五、技术路线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硬件优化：多级机械臂、多功能云台相机、窄箱机器人迭代、模块化快速重构</a:t>
            </a:r>
          </a:p>
          <a:p>
            <a:pPr>
              <a:spcAft>
                <a:spcPts val="800"/>
              </a:spcAft>
              <a:defRPr sz="1600"/>
            </a:pPr>
            <a:r>
              <a:t>• 算法升级：UWB+IMU+视觉多源融合定位、YOLOv8-GC持续迭代、模糊PID自适应控制</a:t>
            </a:r>
          </a:p>
          <a:p>
            <a:pPr>
              <a:spcAft>
                <a:spcPts val="800"/>
              </a:spcAft>
              <a:defRPr sz="1600"/>
            </a:pPr>
            <a:r>
              <a:t>• 平台构建：钢箱梁病害数据库（6类大于等于10000张）、端云协同架构（5G+边缘计算）</a:t>
            </a:r>
          </a:p>
          <a:p>
            <a:pPr>
              <a:spcAft>
                <a:spcPts val="800"/>
              </a:spcAft>
              <a:defRPr sz="1600"/>
            </a:pPr>
            <a:r>
              <a:t>•   全生命周期管理：检测-评估-养护决策闭环+BIM集成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116430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六、成果与关键技术问题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提交成果：</a:t>
            </a:r>
          </a:p>
          <a:p>
            <a:pPr>
              <a:spcAft>
                <a:spcPts val="800"/>
              </a:spcAft>
              <a:defRPr sz="1600"/>
            </a:pPr>
            <a:r>
              <a:t>•   工程样机1套（宽幅+窄箱机器人）+ 病害数据库1套 + 端云平台1套</a:t>
            </a:r>
          </a:p>
          <a:p>
            <a:pPr>
              <a:spcAft>
                <a:spcPts val="800"/>
              </a:spcAft>
              <a:defRPr sz="1600"/>
            </a:pPr>
            <a:r>
              <a:t>•   研究报告1份 + 论文2-3篇 + 发明专利2-3项 + 软著1项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• 四大关键技术问题：</a:t>
            </a:r>
          </a:p>
          <a:p>
            <a:pPr>
              <a:spcAft>
                <a:spcPts val="800"/>
              </a:spcAft>
              <a:defRPr sz="1600"/>
            </a:pPr>
            <a:r>
              <a:t>•   1. 多级伸缩机械臂稳定性与精准控制</a:t>
            </a:r>
          </a:p>
          <a:p>
            <a:pPr>
              <a:spcAft>
                <a:spcPts val="800"/>
              </a:spcAft>
              <a:defRPr sz="1600"/>
            </a:pPr>
            <a:r>
              <a:t>•   2. 钢箱梁内部高精度多源融合定位</a:t>
            </a:r>
          </a:p>
          <a:p>
            <a:pPr>
              <a:spcAft>
                <a:spcPts val="800"/>
              </a:spcAft>
              <a:defRPr sz="1600"/>
            </a:pPr>
            <a:r>
              <a:t>•   3. 复杂工况下病害智能识别与量化评估</a:t>
            </a:r>
          </a:p>
          <a:p>
            <a:pPr>
              <a:spcAft>
                <a:spcPts val="800"/>
              </a:spcAft>
              <a:defRPr sz="1600"/>
            </a:pPr>
            <a:r>
              <a:t>•   4. 宽-窄箱梁巡检机器人多机协同作业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116430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七、实施计划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第一阶段（2026.6-8月）：硬件系统优化设计与样机研制</a:t>
            </a:r>
          </a:p>
          <a:p>
            <a:pPr>
              <a:spcAft>
                <a:spcPts val="800"/>
              </a:spcAft>
              <a:defRPr sz="1800"/>
            </a:pPr>
            <a:r>
              <a:t>• 第二阶段（2026.6-12月）：算法升级与软件平台开发</a:t>
            </a:r>
          </a:p>
          <a:p>
            <a:pPr>
              <a:spcAft>
                <a:spcPts val="800"/>
              </a:spcAft>
              <a:defRPr sz="1800"/>
            </a:pPr>
            <a:r>
              <a:t>• 第三阶段（2026.10-2027.6）：系统集成、示范验证与结题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• 团队：26人（高级11人、中级14人、初级1人）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116430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八、经费预算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总预算：230万元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• 业务费：130万元（56.5%）- 材料费、测试试验加工费、差旅会议费、知识产权费</a:t>
            </a:r>
          </a:p>
          <a:p>
            <a:pPr>
              <a:spcAft>
                <a:spcPts val="800"/>
              </a:spcAft>
              <a:defRPr sz="1800"/>
            </a:pPr>
            <a:r>
              <a:t>• 直接人工费：90万元（39.1%）- 工资、奖金、临时用工、专家咨询费</a:t>
            </a:r>
          </a:p>
          <a:p>
            <a:pPr>
              <a:spcAft>
                <a:spcPts val="800"/>
              </a:spcAft>
              <a:defRPr sz="1800"/>
            </a:pPr>
            <a:r>
              <a:t>• 设备费：10万元（4.4%）- 小型设备购置与试制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• 经费分配遵循以业务需求为导向、以成果产出为目标的原则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/>
            </a:pPr>
            <a:r>
              <a:t>谢谢！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