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custDataLst>
    <p:tags r:id="rId2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D5AA9"/>
              </a:solidFill>
              <a:effectLst/>
            </c:spPr>
          </c:dPt>
          <c:dPt>
            <c:idx val="2"/>
            <c:bubble3D val="0"/>
            <c:spPr>
              <a:solidFill>
                <a:srgbClr val="6B8DD6"/>
              </a:solidFill>
              <a:effectLst/>
            </c:spPr>
          </c:dPt>
          <c:dPt>
            <c:idx val="3"/>
            <c:bubble3D val="0"/>
            <c:spPr>
              <a:solidFill>
                <a:srgbClr val="89A8C1"/>
              </a:solidFill>
              <a:effectLst/>
            </c:spPr>
          </c:dPt>
          <c:dPt>
            <c:idx val="4"/>
            <c:bubble3D val="0"/>
            <c:spPr>
              <a:solidFill>
                <a:srgbClr val="A8C4D9"/>
              </a:solidFill>
              <a:effectLst/>
            </c:spPr>
          </c:dPt>
          <c:dPt>
            <c:idx val="5"/>
            <c:bubble3D val="0"/>
            <c:spPr>
              <a:solidFill>
                <a:srgbClr val="C5D3E8"/>
              </a:solidFill>
              <a:effectLst/>
            </c:spPr>
          </c:dPt>
          <c:dPt>
            <c:idx val="6"/>
            <c:bubble3D val="0"/>
            <c:spPr>
              <a:solidFill>
                <a:srgbClr val="D6E0F0"/>
              </a:solidFill>
              <a:effectLst/>
            </c:spPr>
          </c:dPt>
          <c:dPt>
            <c:idx val="7"/>
            <c:bubble3D val="0"/>
            <c:spPr>
              <a:solidFill>
                <a:srgbClr val="E5EBF5"/>
              </a:solidFill>
              <a:effectLst/>
            </c:spPr>
          </c:dPt>
          <c:dPt>
            <c:idx val="8"/>
            <c:bubble3D val="0"/>
            <c:spPr>
              <a:solidFill>
                <a:srgbClr val="F0F4FA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设备费</c:v>
                </c:pt>
                <c:pt idx="1">
                  <c:v>材料费</c:v>
                </c:pt>
                <c:pt idx="2">
                  <c:v>测试化验费</c:v>
                </c:pt>
                <c:pt idx="3">
                  <c:v>燃料动力费</c:v>
                </c:pt>
                <c:pt idx="4">
                  <c:v>差旅费</c:v>
                </c:pt>
                <c:pt idx="5">
                  <c:v>会议费</c:v>
                </c:pt>
                <c:pt idx="6">
                  <c:v>合作协作费</c:v>
                </c:pt>
                <c:pt idx="7">
                  <c:v>专家咨询费</c:v>
                </c:pt>
                <c:pt idx="8">
                  <c:v>其他支出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</c:v>
                </c:pt>
                <c:pt idx="1">
                  <c:v>30</c:v>
                </c:pt>
                <c:pt idx="2">
                  <c:v>35</c:v>
                </c:pt>
                <c:pt idx="3">
                  <c:v>15</c:v>
                </c:pt>
                <c:pt idx="4">
                  <c:v>20</c:v>
                </c:pt>
                <c:pt idx="5">
                  <c:v>10</c:v>
                </c:pt>
                <c:pt idx="6">
                  <c:v>25</c:v>
                </c:pt>
                <c:pt idx="7">
                  <c:v>15</c:v>
                </c:pt>
                <c:pt idx="8">
                  <c:v>35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基于AI视觉识别的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狭窄钢箱梁内部缺陷巡检机器人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二期研发项目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58590"/>
            <a:ext cx="8229600" cy="8661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申报单位：桥梁结构安全研究院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协作单位：</a:t>
            </a:r>
            <a:r>
              <a:rPr lang="zh-CN" altLang="en-US" sz="14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招商路检</a:t>
            </a:r>
            <a:r>
              <a:rPr lang="en-US" sz="14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科技有限公司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一、研究背景及国内外研究现状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201168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行业背景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2024年全国公路桥梁110.81万座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30%以上桥梁进入老龄化阶段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钢箱梁结构占大跨径桥梁80%以上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人工检测效率低、风险高、成本高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201168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行业痛点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作业空间狭窄（1.2~1.8m），人员无法直立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高温高湿（55°C以上，湿度80%+）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每公里U肋焊缝约100km，缺陷3类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人工检测效率低，漏检率高达30%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8412480" cy="15544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731520" y="34290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</a:rPr>
              <a:t>80亿+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全球SHM市场规模(元)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34290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</a:rPr>
              <a:t>55%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41605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国内市场份额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4290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</a:rPr>
              <a:t>10.36%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年复合增长率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一、研究背景及国内外研究现状（续）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国内研究现状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对比项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传统方式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本项目方案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检测方式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人工携带仪器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自动化巡检机器人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定位精度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&gt;10cm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≤2cm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识别准确率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70-80%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≥95%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检测效率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低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提升50%+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越障能力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差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双椭圆履带+特殊结构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本项目技术优势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双椭圆履带+越障模块：适应复杂空间（5-8m检测范围）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YOLOv8-GC算法：识别准确率≥95%，漏检率&lt;5%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BIM+RFID融合定位：定位精度≤2cm，姿态偏差&lt;1°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行业标准引领：参与JTG/T 5123-2025规范制定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二、研究目标与内容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研究目标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10058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≥95%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缺陷识别准确率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965960" cy="10058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46304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≤2cm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2011680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定位精度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1965960" cy="10058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46304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&lt;5%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漏检率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417320"/>
            <a:ext cx="1965960" cy="10058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46304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50%+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2011680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检测效率提升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研究内容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691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10896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复杂环境下SLAM定位技术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基于UWB+视觉融合的自主导航定位系统，适应狭窄空间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51760" cy="1691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108960"/>
            <a:ext cx="320040" cy="3200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3383280" y="31089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310896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轻量化缺陷检测算法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352044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YOLOv8-GC算法优化，模型压缩50%，推理速度提升3倍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651760" cy="1691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108960"/>
            <a:ext cx="320040" cy="3200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8"/>
          <p:cNvSpPr/>
          <p:nvPr/>
        </p:nvSpPr>
        <p:spPr>
          <a:xfrm>
            <a:off x="6217920" y="31089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10896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云边协同检测平台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352044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边缘实时检测+云端模型迭代，支持多机器人协作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三、硬件系统优化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机器人硬件架构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75488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7772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640080" y="150876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双椭圆履带机构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宽度可调0.8-1.2m，爬坡能力30°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75488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" cy="7772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640080" y="237744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双目视觉模块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基线距0.5m，深度精度±2mm@1m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75488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54680"/>
            <a:ext cx="73152" cy="7772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640080" y="324612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多传感器融合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UWB+IMU+编码器融合定位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475488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640080" y="411480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边缘计算单元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NVIDIA Jetson Orin，功耗35W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关键技术参数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5394960" y="1417320"/>
          <a:ext cx="338328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</a:tblGrid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检测范围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5-8m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定位精度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≤2cm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姿态偏差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&lt;1°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工作温度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-20~55°C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防护等级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IP67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续航时间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≥4h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四、核心算法优化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基于YOLOv8-GC的轻量化缺陷检测算法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6400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457200" y="150876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GhostConv骨干网络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313432"/>
            <a:ext cx="137160" cy="1371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/>
          <p:nvPr/>
        </p:nvSpPr>
        <p:spPr>
          <a:xfrm>
            <a:off x="822960" y="22402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模型体积减少50%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953512"/>
            <a:ext cx="137160" cy="1371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1" name="Text 9"/>
          <p:cNvSpPr/>
          <p:nvPr/>
        </p:nvSpPr>
        <p:spPr>
          <a:xfrm>
            <a:off x="822960" y="288036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计算量降低40%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593592"/>
            <a:ext cx="137160" cy="1371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3" name="Text 11"/>
          <p:cNvSpPr/>
          <p:nvPr/>
        </p:nvSpPr>
        <p:spPr>
          <a:xfrm>
            <a:off x="822960" y="35204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特征提取效率提升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651760" cy="32004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463040"/>
            <a:ext cx="2651760" cy="6400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3291840" y="150876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GC注意力机制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29000" y="2313432"/>
            <a:ext cx="137160" cy="1371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8" name="Text 16"/>
          <p:cNvSpPr/>
          <p:nvPr/>
        </p:nvSpPr>
        <p:spPr>
          <a:xfrm>
            <a:off x="3657600" y="22402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通道+空间双重注意力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2953512"/>
            <a:ext cx="137160" cy="1371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0" name="Text 18"/>
          <p:cNvSpPr/>
          <p:nvPr/>
        </p:nvSpPr>
        <p:spPr>
          <a:xfrm>
            <a:off x="3657600" y="288036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缺陷特征增强3倍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593592"/>
            <a:ext cx="137160" cy="1371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2" name="Text 20"/>
          <p:cNvSpPr/>
          <p:nvPr/>
        </p:nvSpPr>
        <p:spPr>
          <a:xfrm>
            <a:off x="3657600" y="35204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背景干扰抑制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463040"/>
            <a:ext cx="2651760" cy="32004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463040"/>
            <a:ext cx="2651760" cy="6400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6126480" y="150876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模型量化压缩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2313432"/>
            <a:ext cx="137160" cy="1371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7" name="Text 25"/>
          <p:cNvSpPr/>
          <p:nvPr/>
        </p:nvSpPr>
        <p:spPr>
          <a:xfrm>
            <a:off x="6492240" y="22402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INT8量化部署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2953512"/>
            <a:ext cx="137160" cy="1371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9" name="Text 27"/>
          <p:cNvSpPr/>
          <p:nvPr/>
        </p:nvSpPr>
        <p:spPr>
          <a:xfrm>
            <a:off x="6492240" y="288036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推理速度提升3倍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593592"/>
            <a:ext cx="137160" cy="1371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1" name="Text 29"/>
          <p:cNvSpPr/>
          <p:nvPr/>
        </p:nvSpPr>
        <p:spPr>
          <a:xfrm>
            <a:off x="6492240" y="35204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精度损失&lt;1%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33" name="Text 3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传统YOLOv8 → YOLOv8-GC: 参数量12.8M→6.4M | mAP@0.5: 89.2%→94.5% | 推理耗时85ms→28ms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五、云平台协作机制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缺陷数据库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3774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缺陷类型: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55448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3大类（裂纹、锈蚀、变形）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样本数量: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50,000+张标注图像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数据来源: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65176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15座实桥检测数据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更新频率: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2004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每月迭代优化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云边协同架构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023360" cy="777240"/>
          </a:xfrm>
          <a:prstGeom prst="rect">
            <a:avLst/>
          </a:prstGeom>
          <a:solidFill>
            <a:srgbClr val="1E2761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50876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云端层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模型训练 | 数据存储 | 远程监控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023360" cy="777240"/>
          </a:xfrm>
          <a:prstGeom prst="rect">
            <a:avLst/>
          </a:prstGeom>
          <a:solidFill>
            <a:srgbClr val="3D5AA9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3774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边缘层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69748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实时推理 | 缺陷检测 | 本地决策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4023360" cy="777240"/>
          </a:xfrm>
          <a:prstGeom prst="rect">
            <a:avLst/>
          </a:prstGeom>
          <a:solidFill>
            <a:srgbClr val="6B8DD6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24612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设备层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56616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机器人控制 | 传感器采集 | 自主导航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10515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640080" y="40690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协作流程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现场采集 → 边缘推理 → 缺陷预警 → 数据回传 → 云端迭代 → 模型下发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六、阶段性成果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已提交成果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965960" cy="73152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7" name="Text 5"/>
          <p:cNvSpPr/>
          <p:nvPr/>
        </p:nvSpPr>
        <p:spPr>
          <a:xfrm>
            <a:off x="457200" y="160020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样机1台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783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双椭圆履带巡检机器人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完成现场测试验证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9659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417320"/>
            <a:ext cx="1965960" cy="73152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1" name="Text 9"/>
          <p:cNvSpPr/>
          <p:nvPr/>
        </p:nvSpPr>
        <p:spPr>
          <a:xfrm>
            <a:off x="2606040" y="160020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数据库1套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057400"/>
            <a:ext cx="1783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50,000+张缺陷样本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15座实桥检测数据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19659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1965960" cy="73152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5" name="Text 13"/>
          <p:cNvSpPr/>
          <p:nvPr/>
        </p:nvSpPr>
        <p:spPr>
          <a:xfrm>
            <a:off x="4754880" y="160020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平台1套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1783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云边协同检测平台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支持多机器人协作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19659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417320"/>
            <a:ext cx="1965960" cy="73152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9" name="Text 17"/>
          <p:cNvSpPr/>
          <p:nvPr/>
        </p:nvSpPr>
        <p:spPr>
          <a:xfrm>
            <a:off x="6903720" y="160020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论文与专利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2057400"/>
            <a:ext cx="1783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SCI论文2篇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发明专利3项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640080" y="33375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关键指标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ADCFC"/>
                </a:solidFill>
              </a:rPr>
              <a:t>94.5%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缺陷识别准确率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370332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ADCFC"/>
                </a:solidFill>
              </a:rPr>
              <a:t>≤2cm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697480" y="42519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定位精度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0332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ADCFC"/>
                </a:solidFill>
              </a:rPr>
              <a:t>&lt;5%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754880" y="42519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漏检率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370332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ADCFC"/>
                </a:solidFill>
              </a:rPr>
              <a:t>50%+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812280" y="42519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效率提升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七、技术与经济效益目标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技术指标目标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0" cy="22860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508760"/>
          <a:ext cx="4389120" cy="210312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目标值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缺陷识别准确率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≥95%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定位精度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≤2cm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漏检率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检测效率提升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50%+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模型压缩率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21208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经济效益目标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12080" y="1417320"/>
            <a:ext cx="3566160" cy="2286000"/>
          </a:xfrm>
          <a:prstGeom prst="rect">
            <a:avLst/>
          </a:prstGeom>
          <a:solidFill>
            <a:srgbClr val="1E2761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0" y="1554480"/>
            <a:ext cx="35661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DCFC"/>
                </a:solidFill>
              </a:rPr>
              <a:t>600</a:t>
            </a:r>
            <a:endParaRPr lang="en-US" sz="7200" dirty="0"/>
          </a:p>
        </p:txBody>
      </p:sp>
      <p:sp>
        <p:nvSpPr>
          <p:cNvPr id="6" name="Text 7"/>
          <p:cNvSpPr/>
          <p:nvPr/>
        </p:nvSpPr>
        <p:spPr>
          <a:xfrm>
            <a:off x="5212080" y="260604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</a:rPr>
              <a:t>万元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212080" y="310896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预计年产值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886200"/>
            <a:ext cx="4023360" cy="9144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3931920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30%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57200" y="443484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成本降低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3886200"/>
            <a:ext cx="4023360" cy="9144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63440" y="3931920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2年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663440" y="443484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投资回收期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八、技术路线与实施计划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总体技术路线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65960" cy="21945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60020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1143000" y="160020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第一阶段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硬件系统优化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第1-3月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37744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06040" y="1463040"/>
            <a:ext cx="1965960" cy="21945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600200"/>
            <a:ext cx="594360" cy="594360"/>
          </a:xfrm>
          <a:prstGeom prst="ellipse">
            <a:avLst/>
          </a:prstGeom>
          <a:solidFill>
            <a:srgbClr val="3D5AA9"/>
          </a:solidFill>
        </p:spPr>
      </p:sp>
      <p:sp>
        <p:nvSpPr>
          <p:cNvPr id="14" name="Text 12"/>
          <p:cNvSpPr/>
          <p:nvPr/>
        </p:nvSpPr>
        <p:spPr>
          <a:xfrm>
            <a:off x="3291840" y="160020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228600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第二阶段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260604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核心算法优化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310896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第4-6月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37744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1965960" cy="21945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0680" y="1600200"/>
            <a:ext cx="594360" cy="594360"/>
          </a:xfrm>
          <a:prstGeom prst="ellipse">
            <a:avLst/>
          </a:prstGeom>
          <a:solidFill>
            <a:srgbClr val="6B8DD6"/>
          </a:solidFill>
        </p:spPr>
      </p:sp>
      <p:sp>
        <p:nvSpPr>
          <p:cNvPr id="21" name="Text 19"/>
          <p:cNvSpPr/>
          <p:nvPr/>
        </p:nvSpPr>
        <p:spPr>
          <a:xfrm>
            <a:off x="5440680" y="160020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228600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第三阶段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60604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云平台开发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310896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第7-10月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237744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03720" y="1463040"/>
            <a:ext cx="1965960" cy="21945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89520" y="1600200"/>
            <a:ext cx="594360" cy="594360"/>
          </a:xfrm>
          <a:prstGeom prst="ellipse">
            <a:avLst/>
          </a:prstGeom>
          <a:solidFill>
            <a:srgbClr val="89A8C1"/>
          </a:solidFill>
        </p:spPr>
      </p:sp>
      <p:sp>
        <p:nvSpPr>
          <p:cNvPr id="28" name="Text 26"/>
          <p:cNvSpPr/>
          <p:nvPr/>
        </p:nvSpPr>
        <p:spPr>
          <a:xfrm>
            <a:off x="7589520" y="160020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03720" y="228600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第四阶段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260604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示范应用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310896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第11-12月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86200"/>
            <a:ext cx="8229600" cy="10058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3" name="Text 31"/>
          <p:cNvSpPr/>
          <p:nvPr/>
        </p:nvSpPr>
        <p:spPr>
          <a:xfrm>
            <a:off x="640080" y="3977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实施时间轴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297680"/>
            <a:ext cx="182880" cy="18288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5" name="Text 33"/>
          <p:cNvSpPr/>
          <p:nvPr/>
        </p:nvSpPr>
        <p:spPr>
          <a:xfrm>
            <a:off x="365760" y="452628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1月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31720" y="4297680"/>
            <a:ext cx="182880" cy="18288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7" name="Text 35"/>
          <p:cNvSpPr/>
          <p:nvPr/>
        </p:nvSpPr>
        <p:spPr>
          <a:xfrm>
            <a:off x="2057400" y="452628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3月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69080" y="4297680"/>
            <a:ext cx="182880" cy="18288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9" name="Text 37"/>
          <p:cNvSpPr/>
          <p:nvPr/>
        </p:nvSpPr>
        <p:spPr>
          <a:xfrm>
            <a:off x="3794760" y="452628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6月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9360" y="4297680"/>
            <a:ext cx="182880" cy="18288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1" name="Text 39"/>
          <p:cNvSpPr/>
          <p:nvPr/>
        </p:nvSpPr>
        <p:spPr>
          <a:xfrm>
            <a:off x="6035040" y="452628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10月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72400" y="4297680"/>
            <a:ext cx="182880" cy="18288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3" name="Text 41"/>
          <p:cNvSpPr/>
          <p:nvPr/>
        </p:nvSpPr>
        <p:spPr>
          <a:xfrm>
            <a:off x="7498080" y="452628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12月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" y="4251960"/>
            <a:ext cx="1828800" cy="73152"/>
          </a:xfrm>
          <a:prstGeom prst="rect">
            <a:avLst/>
          </a:prstGeom>
          <a:solidFill>
            <a:srgbClr val="3D5AA9"/>
          </a:solidFill>
        </p:spPr>
      </p:sp>
      <p:sp>
        <p:nvSpPr>
          <p:cNvPr id="46" name="Shape 44"/>
          <p:cNvSpPr/>
          <p:nvPr/>
        </p:nvSpPr>
        <p:spPr>
          <a:xfrm>
            <a:off x="2560320" y="4251960"/>
            <a:ext cx="1645920" cy="73152"/>
          </a:xfrm>
          <a:prstGeom prst="rect">
            <a:avLst/>
          </a:prstGeom>
          <a:solidFill>
            <a:srgbClr val="6B8DD6"/>
          </a:solidFill>
        </p:spPr>
      </p:sp>
      <p:sp>
        <p:nvSpPr>
          <p:cNvPr id="47" name="Shape 45"/>
          <p:cNvSpPr/>
          <p:nvPr/>
        </p:nvSpPr>
        <p:spPr>
          <a:xfrm>
            <a:off x="4206240" y="4251960"/>
            <a:ext cx="2194560" cy="73152"/>
          </a:xfrm>
          <a:prstGeom prst="rect">
            <a:avLst/>
          </a:prstGeom>
          <a:solidFill>
            <a:srgbClr val="89A8C1"/>
          </a:solidFill>
        </p:spPr>
      </p:sp>
      <p:sp>
        <p:nvSpPr>
          <p:cNvPr id="48" name="Shape 46"/>
          <p:cNvSpPr/>
          <p:nvPr/>
        </p:nvSpPr>
        <p:spPr>
          <a:xfrm>
            <a:off x="6400800" y="4251960"/>
            <a:ext cx="2011680" cy="73152"/>
          </a:xfrm>
          <a:prstGeom prst="rect">
            <a:avLst/>
          </a:prstGeom>
          <a:solidFill>
            <a:srgbClr val="A8C4D9"/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八、技术路线与实施计划（续）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各阶段详细任务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32918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65960" cy="5943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Shape 5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硬件系统优化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212848"/>
            <a:ext cx="109728" cy="1097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777240" y="210312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双椭圆履带机构设计定型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807208"/>
            <a:ext cx="109728" cy="1097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777240" y="269748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双目视觉模块集成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401568"/>
            <a:ext cx="109728" cy="1097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777240" y="329184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多传感器融合调试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995928"/>
            <a:ext cx="109728" cy="1097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777240" y="388620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样机装配与测试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1371600"/>
            <a:ext cx="1965960" cy="32918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1371600"/>
            <a:ext cx="1965960" cy="594360"/>
          </a:xfrm>
          <a:prstGeom prst="rect">
            <a:avLst/>
          </a:prstGeom>
          <a:solidFill>
            <a:srgbClr val="3D5AA9"/>
          </a:solidFill>
        </p:spPr>
      </p:sp>
      <p:sp>
        <p:nvSpPr>
          <p:cNvPr id="20" name="Shape 18"/>
          <p:cNvSpPr/>
          <p:nvPr/>
        </p:nvSpPr>
        <p:spPr>
          <a:xfrm>
            <a:off x="2697480" y="1463040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2697480" y="14630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08960" y="146304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核心算法优化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2212848"/>
            <a:ext cx="109728" cy="109728"/>
          </a:xfrm>
          <a:prstGeom prst="ellipse">
            <a:avLst/>
          </a:prstGeom>
          <a:solidFill>
            <a:srgbClr val="3D5AA9"/>
          </a:solidFill>
        </p:spPr>
      </p:sp>
      <p:sp>
        <p:nvSpPr>
          <p:cNvPr id="24" name="Text 22"/>
          <p:cNvSpPr/>
          <p:nvPr/>
        </p:nvSpPr>
        <p:spPr>
          <a:xfrm>
            <a:off x="2926080" y="210312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YOLOv8-GC算法训练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2807208"/>
            <a:ext cx="109728" cy="109728"/>
          </a:xfrm>
          <a:prstGeom prst="ellipse">
            <a:avLst/>
          </a:prstGeom>
          <a:solidFill>
            <a:srgbClr val="3D5AA9"/>
          </a:solidFill>
        </p:spPr>
      </p:sp>
      <p:sp>
        <p:nvSpPr>
          <p:cNvPr id="26" name="Text 24"/>
          <p:cNvSpPr/>
          <p:nvPr/>
        </p:nvSpPr>
        <p:spPr>
          <a:xfrm>
            <a:off x="2926080" y="269748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GhostConv模块集成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0" y="3401568"/>
            <a:ext cx="109728" cy="109728"/>
          </a:xfrm>
          <a:prstGeom prst="ellipse">
            <a:avLst/>
          </a:prstGeom>
          <a:solidFill>
            <a:srgbClr val="3D5AA9"/>
          </a:solidFill>
        </p:spPr>
      </p:sp>
      <p:sp>
        <p:nvSpPr>
          <p:cNvPr id="28" name="Text 26"/>
          <p:cNvSpPr/>
          <p:nvPr/>
        </p:nvSpPr>
        <p:spPr>
          <a:xfrm>
            <a:off x="2926080" y="329184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GC注意力机制优化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3995928"/>
            <a:ext cx="109728" cy="109728"/>
          </a:xfrm>
          <a:prstGeom prst="ellipse">
            <a:avLst/>
          </a:prstGeom>
          <a:solidFill>
            <a:srgbClr val="3D5AA9"/>
          </a:solidFill>
        </p:spPr>
      </p:sp>
      <p:sp>
        <p:nvSpPr>
          <p:cNvPr id="30" name="Text 28"/>
          <p:cNvSpPr/>
          <p:nvPr/>
        </p:nvSpPr>
        <p:spPr>
          <a:xfrm>
            <a:off x="2926080" y="388620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模型量化与部署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371600"/>
            <a:ext cx="1965960" cy="32918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371600"/>
            <a:ext cx="1965960" cy="594360"/>
          </a:xfrm>
          <a:prstGeom prst="rect">
            <a:avLst/>
          </a:prstGeom>
          <a:solidFill>
            <a:srgbClr val="6B8DD6"/>
          </a:solidFill>
        </p:spPr>
      </p:sp>
      <p:sp>
        <p:nvSpPr>
          <p:cNvPr id="33" name="Shape 31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4846320" y="14630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57800" y="146304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云平台开发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2212848"/>
            <a:ext cx="109728" cy="109728"/>
          </a:xfrm>
          <a:prstGeom prst="ellipse">
            <a:avLst/>
          </a:prstGeom>
          <a:solidFill>
            <a:srgbClr val="6B8DD6"/>
          </a:solidFill>
        </p:spPr>
      </p:sp>
      <p:sp>
        <p:nvSpPr>
          <p:cNvPr id="37" name="Text 35"/>
          <p:cNvSpPr/>
          <p:nvPr/>
        </p:nvSpPr>
        <p:spPr>
          <a:xfrm>
            <a:off x="5074920" y="210312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边缘计算单元部署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2807208"/>
            <a:ext cx="109728" cy="109728"/>
          </a:xfrm>
          <a:prstGeom prst="ellipse">
            <a:avLst/>
          </a:prstGeom>
          <a:solidFill>
            <a:srgbClr val="6B8DD6"/>
          </a:solidFill>
        </p:spPr>
      </p:sp>
      <p:sp>
        <p:nvSpPr>
          <p:cNvPr id="39" name="Text 37"/>
          <p:cNvSpPr/>
          <p:nvPr/>
        </p:nvSpPr>
        <p:spPr>
          <a:xfrm>
            <a:off x="5074920" y="269748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缺陷数据库建设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401568"/>
            <a:ext cx="109728" cy="109728"/>
          </a:xfrm>
          <a:prstGeom prst="ellipse">
            <a:avLst/>
          </a:prstGeom>
          <a:solidFill>
            <a:srgbClr val="6B8DD6"/>
          </a:solidFill>
        </p:spPr>
      </p:sp>
      <p:sp>
        <p:nvSpPr>
          <p:cNvPr id="41" name="Text 39"/>
          <p:cNvSpPr/>
          <p:nvPr/>
        </p:nvSpPr>
        <p:spPr>
          <a:xfrm>
            <a:off x="5074920" y="329184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云端模型迭代系统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3995928"/>
            <a:ext cx="109728" cy="109728"/>
          </a:xfrm>
          <a:prstGeom prst="ellipse">
            <a:avLst/>
          </a:prstGeom>
          <a:solidFill>
            <a:srgbClr val="6B8DD6"/>
          </a:solidFill>
        </p:spPr>
      </p:sp>
      <p:sp>
        <p:nvSpPr>
          <p:cNvPr id="43" name="Text 41"/>
          <p:cNvSpPr/>
          <p:nvPr/>
        </p:nvSpPr>
        <p:spPr>
          <a:xfrm>
            <a:off x="5074920" y="388620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多机器人协作机制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1371600"/>
            <a:ext cx="1965960" cy="32918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03720" y="1371600"/>
            <a:ext cx="1965960" cy="594360"/>
          </a:xfrm>
          <a:prstGeom prst="rect">
            <a:avLst/>
          </a:prstGeom>
          <a:solidFill>
            <a:srgbClr val="89A8C1"/>
          </a:solidFill>
        </p:spPr>
      </p:sp>
      <p:sp>
        <p:nvSpPr>
          <p:cNvPr id="46" name="Shape 44"/>
          <p:cNvSpPr/>
          <p:nvPr/>
        </p:nvSpPr>
        <p:spPr>
          <a:xfrm>
            <a:off x="6995160" y="1463040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6995160" y="14630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406640" y="146304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示范应用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40880" y="2212848"/>
            <a:ext cx="109728" cy="109728"/>
          </a:xfrm>
          <a:prstGeom prst="ellipse">
            <a:avLst/>
          </a:prstGeom>
          <a:solidFill>
            <a:srgbClr val="89A8C1"/>
          </a:solidFill>
        </p:spPr>
      </p:sp>
      <p:sp>
        <p:nvSpPr>
          <p:cNvPr id="50" name="Text 48"/>
          <p:cNvSpPr/>
          <p:nvPr/>
        </p:nvSpPr>
        <p:spPr>
          <a:xfrm>
            <a:off x="7223760" y="210312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实桥现场测试验证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40880" y="2807208"/>
            <a:ext cx="109728" cy="109728"/>
          </a:xfrm>
          <a:prstGeom prst="ellipse">
            <a:avLst/>
          </a:prstGeom>
          <a:solidFill>
            <a:srgbClr val="89A8C1"/>
          </a:solidFill>
        </p:spPr>
      </p:sp>
      <p:sp>
        <p:nvSpPr>
          <p:cNvPr id="52" name="Text 50"/>
          <p:cNvSpPr/>
          <p:nvPr/>
        </p:nvSpPr>
        <p:spPr>
          <a:xfrm>
            <a:off x="7223760" y="269748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技术标准规范编制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40880" y="3401568"/>
            <a:ext cx="109728" cy="109728"/>
          </a:xfrm>
          <a:prstGeom prst="ellipse">
            <a:avLst/>
          </a:prstGeom>
          <a:solidFill>
            <a:srgbClr val="89A8C1"/>
          </a:solidFill>
        </p:spPr>
      </p:sp>
      <p:sp>
        <p:nvSpPr>
          <p:cNvPr id="54" name="Text 52"/>
          <p:cNvSpPr/>
          <p:nvPr/>
        </p:nvSpPr>
        <p:spPr>
          <a:xfrm>
            <a:off x="7223760" y="329184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项目成果整理验收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40880" y="3995928"/>
            <a:ext cx="109728" cy="109728"/>
          </a:xfrm>
          <a:prstGeom prst="ellipse">
            <a:avLst/>
          </a:prstGeom>
          <a:solidFill>
            <a:srgbClr val="89A8C1"/>
          </a:solidFill>
        </p:spPr>
      </p:sp>
      <p:sp>
        <p:nvSpPr>
          <p:cNvPr id="56" name="Text 54"/>
          <p:cNvSpPr/>
          <p:nvPr/>
        </p:nvSpPr>
        <p:spPr>
          <a:xfrm>
            <a:off x="7223760" y="388620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推广应用方案制定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九、项目进度计划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项目进度安排（2026.6 - 2028.12）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37360" y="1417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2026.6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0312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417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2026.12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417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2027.6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417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2027.12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417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2028.6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41732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2028.12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68680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73736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</a:rPr>
              <a:t>第一阶段：硬件优化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1783080"/>
            <a:ext cx="2011680" cy="2743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502920" y="219456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</a:rPr>
              <a:t>第二阶段：算法研发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94560" y="2240280"/>
            <a:ext cx="2560320" cy="274320"/>
          </a:xfrm>
          <a:prstGeom prst="rect">
            <a:avLst/>
          </a:prstGeom>
          <a:solidFill>
            <a:srgbClr val="3D5AA9"/>
          </a:solidFill>
        </p:spPr>
      </p:sp>
      <p:sp>
        <p:nvSpPr>
          <p:cNvPr id="22" name="Text 20"/>
          <p:cNvSpPr/>
          <p:nvPr/>
        </p:nvSpPr>
        <p:spPr>
          <a:xfrm>
            <a:off x="502920" y="265176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</a:rPr>
              <a:t>第三阶段：平台建设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06240" y="2697480"/>
            <a:ext cx="2377440" cy="274320"/>
          </a:xfrm>
          <a:prstGeom prst="rect">
            <a:avLst/>
          </a:prstGeom>
          <a:solidFill>
            <a:srgbClr val="6B8DD6"/>
          </a:solidFill>
        </p:spPr>
      </p:sp>
      <p:sp>
        <p:nvSpPr>
          <p:cNvPr id="24" name="Text 22"/>
          <p:cNvSpPr/>
          <p:nvPr/>
        </p:nvSpPr>
        <p:spPr>
          <a:xfrm>
            <a:off x="502920" y="310896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</a:rPr>
              <a:t>第四阶段：测试验收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154680"/>
            <a:ext cx="2286000" cy="274320"/>
          </a:xfrm>
          <a:prstGeom prst="rect">
            <a:avLst/>
          </a:prstGeom>
          <a:solidFill>
            <a:srgbClr val="89A8C1"/>
          </a:solidFill>
        </p:spPr>
      </p:sp>
      <p:sp>
        <p:nvSpPr>
          <p:cNvPr id="26" name="Text 24"/>
          <p:cNvSpPr/>
          <p:nvPr/>
        </p:nvSpPr>
        <p:spPr>
          <a:xfrm>
            <a:off x="457200" y="38404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项目组织架构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0" y="4206240"/>
            <a:ext cx="1828800" cy="640080"/>
          </a:xfrm>
          <a:prstGeom prst="rect">
            <a:avLst/>
          </a:prstGeom>
          <a:solidFill>
            <a:srgbClr val="1E2761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0" y="42519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项目经理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45262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统筹协调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84632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4846320"/>
            <a:ext cx="0" cy="2286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0749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12064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机械结构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4846320"/>
            <a:ext cx="0" cy="2286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50749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A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512064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算法研究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4846320"/>
            <a:ext cx="0" cy="2286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7680" y="50749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A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512064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软件平台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0" y="4846320"/>
            <a:ext cx="0" cy="2286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50749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A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512064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测试验证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412480" y="4846320"/>
            <a:ext cx="0" cy="2286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55280" y="5074920"/>
            <a:ext cx="914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A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0" y="512064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技术支持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十、人力资源配置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核心团队成员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04013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457200" y="1389888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项目经理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737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项目总体规划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进度管理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资源协调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1874520"/>
            <a:ext cx="640080" cy="320040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0" name="Text 8"/>
          <p:cNvSpPr/>
          <p:nvPr/>
        </p:nvSpPr>
        <p:spPr>
          <a:xfrm>
            <a:off x="2377440" y="187452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1人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102933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651760" cy="4114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3291840" y="1389888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机械结构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1737360" cy="577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履带设计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结构优化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装配调试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0" y="1874520"/>
            <a:ext cx="640080" cy="320040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16" name="Text 14"/>
          <p:cNvSpPr/>
          <p:nvPr/>
        </p:nvSpPr>
        <p:spPr>
          <a:xfrm>
            <a:off x="5212080" y="187452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2人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51760" cy="104330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71600"/>
            <a:ext cx="2651760" cy="4114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6126480" y="1389888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算法研究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828800"/>
            <a:ext cx="1737360" cy="5861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视觉算法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缺陷检测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模型优化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46720" y="1874520"/>
            <a:ext cx="640080" cy="320040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22" name="Text 20"/>
          <p:cNvSpPr/>
          <p:nvPr/>
        </p:nvSpPr>
        <p:spPr>
          <a:xfrm>
            <a:off x="8046720" y="187452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2人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548890"/>
            <a:ext cx="2651760" cy="97599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548890"/>
            <a:ext cx="2651760" cy="4114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457200" y="2567178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软件平台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2872740"/>
            <a:ext cx="1737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云边系统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数据平台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通信模块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3051810"/>
            <a:ext cx="640080" cy="320040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28" name="Text 26"/>
          <p:cNvSpPr/>
          <p:nvPr/>
        </p:nvSpPr>
        <p:spPr>
          <a:xfrm>
            <a:off x="2377440" y="305181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2人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548890"/>
            <a:ext cx="2651760" cy="97599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2548890"/>
            <a:ext cx="2651760" cy="4114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1" name="Text 29"/>
          <p:cNvSpPr/>
          <p:nvPr/>
        </p:nvSpPr>
        <p:spPr>
          <a:xfrm>
            <a:off x="3291840" y="2567178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测试验证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2872740"/>
            <a:ext cx="1737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功能测试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性能评估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现场验证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3051810"/>
            <a:ext cx="640080" cy="320040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34" name="Text 32"/>
          <p:cNvSpPr/>
          <p:nvPr/>
        </p:nvSpPr>
        <p:spPr>
          <a:xfrm>
            <a:off x="5212080" y="305181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2人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548890"/>
            <a:ext cx="2651760" cy="97599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548890"/>
            <a:ext cx="2651760" cy="4114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7" name="Text 35"/>
          <p:cNvSpPr/>
          <p:nvPr/>
        </p:nvSpPr>
        <p:spPr>
          <a:xfrm>
            <a:off x="6126480" y="2567178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技术支持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2872740"/>
            <a:ext cx="1737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设备维护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技术培训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售后服务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46720" y="3051810"/>
            <a:ext cx="640080" cy="320040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40" name="Text 38"/>
          <p:cNvSpPr/>
          <p:nvPr/>
        </p:nvSpPr>
        <p:spPr>
          <a:xfrm>
            <a:off x="8046720" y="305181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1人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364617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年度人力资源投入（万元）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4011930"/>
            <a:ext cx="8229600" cy="4572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43" name="Table 0"/>
          <p:cNvGraphicFramePr>
            <a:graphicFrameLocks noGrp="1"/>
          </p:cNvGraphicFramePr>
          <p:nvPr/>
        </p:nvGraphicFramePr>
        <p:xfrm>
          <a:off x="457200" y="4048125"/>
          <a:ext cx="8229600" cy="4572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737360"/>
                <a:gridCol w="1737360"/>
                <a:gridCol w="1645920"/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年份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2026年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2027年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2028年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合计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人员投入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400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专家咨询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培训费用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十一、项目经费预算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1371600"/>
          </a:xfrm>
          <a:prstGeom prst="rect">
            <a:avLst/>
          </a:prstGeom>
          <a:solidFill>
            <a:srgbClr val="1E2761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总预算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286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ADCFC"/>
                </a:solidFill>
              </a:rPr>
              <a:t>230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43200" y="178308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</a:rPr>
              <a:t>万元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项目总投资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625340" y="893445"/>
          <a:ext cx="3684905" cy="2078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5146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预算明细表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8229600" cy="2103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2971800"/>
          <a:ext cx="804672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914400"/>
                <a:gridCol w="1828800"/>
                <a:gridCol w="1280160"/>
                <a:gridCol w="914400"/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预算项目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金额（万元）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预算项目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金额（万元）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设备费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19.6%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材料费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燃料动力费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6.5%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差旅费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8.7%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合作协作费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10.9%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专家咨询费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6.5%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敬请指导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桥梁结构安全研究院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龚元浩科技有限公司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2026年5月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ADCFC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ExMjlhZWViNzI5MjJhNTlkZmVjZWMzMWE2ODM4YTI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2218</Words>
  <Application>WPS 演示</Application>
  <PresentationFormat>On-screen Show (16:9)</PresentationFormat>
  <Paragraphs>638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微软雅黑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Kristfa</cp:lastModifiedBy>
  <cp:revision>3</cp:revision>
  <dcterms:created xsi:type="dcterms:W3CDTF">2026-05-20T08:54:00Z</dcterms:created>
  <dcterms:modified xsi:type="dcterms:W3CDTF">2026-05-21T00:35:38Z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7379EE17982F4E1C92C837248ABEA4CB_12</vt:lpwstr>
  </property>
  <property fmtid="{D5CDD505-2E9C-101B-9397-08002B2CF9AE}" pid="3" name="KSOProductBuildVer">
    <vt:lpwstr>2052-12.1.0.16120</vt:lpwstr>
  </property>
</Properties>
</file>